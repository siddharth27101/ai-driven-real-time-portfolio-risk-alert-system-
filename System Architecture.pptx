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4"/>
  </p:notesMasterIdLst>
  <p:sldIdLst>
    <p:sldId id="256" r:id="rId2"/>
    <p:sldId id="259" r:id="rId3"/>
    <p:sldId id="296" r:id="rId4"/>
    <p:sldId id="297" r:id="rId5"/>
    <p:sldId id="307" r:id="rId6"/>
    <p:sldId id="298" r:id="rId7"/>
    <p:sldId id="299" r:id="rId8"/>
    <p:sldId id="301" r:id="rId9"/>
    <p:sldId id="305" r:id="rId10"/>
    <p:sldId id="300" r:id="rId11"/>
    <p:sldId id="302" r:id="rId12"/>
    <p:sldId id="303" r:id="rId13"/>
  </p:sldIdLst>
  <p:sldSz cx="9144000" cy="5143500" type="screen16x9"/>
  <p:notesSz cx="6858000" cy="9144000"/>
  <p:embeddedFontLst>
    <p:embeddedFont>
      <p:font typeface="Atkinson Hyperlegible" panose="020B0604020202020204" charset="0"/>
      <p:regular r:id="rId15"/>
      <p:bold r:id="rId16"/>
      <p:italic r:id="rId17"/>
      <p:boldItalic r:id="rId18"/>
    </p:embeddedFont>
    <p:embeddedFont>
      <p:font typeface="Bebas Neue" panose="020B0606020202050201" pitchFamily="34" charset="0"/>
      <p:regular r:id="rId19"/>
    </p:embeddedFont>
    <p:embeddedFont>
      <p:font typeface="Nunito Light" panose="020F0502020204030204" pitchFamily="2" charset="0"/>
      <p:regular r:id="rId20"/>
      <p:italic r:id="rId21"/>
    </p:embeddedFont>
    <p:embeddedFont>
      <p:font typeface="Playfair Display" panose="020F0502020204030204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FB01F94-61F1-4A72-8839-8D30189680CC}">
  <a:tblStyle styleId="{1FB01F94-61F1-4A72-8839-8D30189680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EDF4F3-7643-4353-8CBB-300FAE4A8B9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7699ee339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7699ee339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462725" y="1121425"/>
            <a:ext cx="4813200" cy="22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462725" y="35462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094600"/>
            <a:ext cx="7704000" cy="3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 rot="10800000" flipH="1">
            <a:off x="-9877" y="0"/>
            <a:ext cx="9178100" cy="5156558"/>
            <a:chOff x="-9877" y="0"/>
            <a:chExt cx="9178100" cy="5156558"/>
          </a:xfrm>
        </p:grpSpPr>
        <p:grpSp>
          <p:nvGrpSpPr>
            <p:cNvPr id="22" name="Google Shape;22;p4"/>
            <p:cNvGrpSpPr/>
            <p:nvPr/>
          </p:nvGrpSpPr>
          <p:grpSpPr>
            <a:xfrm>
              <a:off x="-9877" y="0"/>
              <a:ext cx="1388125" cy="2534723"/>
              <a:chOff x="-9877" y="0"/>
              <a:chExt cx="1388125" cy="2534723"/>
            </a:xfrm>
          </p:grpSpPr>
          <p:pic>
            <p:nvPicPr>
              <p:cNvPr id="23" name="Google Shape;23;p4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" name="Google Shape;24;p4"/>
              <p:cNvPicPr preferRelativeResize="0"/>
              <p:nvPr/>
            </p:nvPicPr>
            <p:blipFill rotWithShape="1">
              <a:blip r:embed="rId4">
                <a:alphaModFix/>
              </a:blip>
              <a:srcRect t="-40485" r="5518" b="65416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" name="Google Shape;25;p4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9" r="12334" b="47016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26;p4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27;p4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8" name="Google Shape;28;p4"/>
            <p:cNvGrpSpPr/>
            <p:nvPr/>
          </p:nvGrpSpPr>
          <p:grpSpPr>
            <a:xfrm rot="10800000">
              <a:off x="7780098" y="2621835"/>
              <a:ext cx="1388125" cy="2534723"/>
              <a:chOff x="-9877" y="0"/>
              <a:chExt cx="1388125" cy="2534723"/>
            </a:xfrm>
          </p:grpSpPr>
          <p:pic>
            <p:nvPicPr>
              <p:cNvPr id="29" name="Google Shape;29;p4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" name="Google Shape;30;p4"/>
              <p:cNvPicPr preferRelativeResize="0"/>
              <p:nvPr/>
            </p:nvPicPr>
            <p:blipFill rotWithShape="1">
              <a:blip r:embed="rId4">
                <a:alphaModFix/>
              </a:blip>
              <a:srcRect t="-40485" r="5518" b="65416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" name="Google Shape;31;p4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9" r="12334" b="47016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" name="Google Shape;32;p4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3" name="Google Shape;33;p4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7" name="Google Shape;57;p6"/>
          <p:cNvGrpSpPr/>
          <p:nvPr/>
        </p:nvGrpSpPr>
        <p:grpSpPr>
          <a:xfrm>
            <a:off x="-9877" y="0"/>
            <a:ext cx="9154002" cy="5143508"/>
            <a:chOff x="-9877" y="0"/>
            <a:chExt cx="9154002" cy="5143508"/>
          </a:xfrm>
        </p:grpSpPr>
        <p:pic>
          <p:nvPicPr>
            <p:cNvPr id="58" name="Google Shape;58;p6"/>
            <p:cNvPicPr preferRelativeResize="0"/>
            <p:nvPr/>
          </p:nvPicPr>
          <p:blipFill rotWithShape="1">
            <a:blip r:embed="rId3">
              <a:alphaModFix/>
            </a:blip>
            <a:srcRect l="11254" r="13011" b="50882"/>
            <a:stretch/>
          </p:blipFill>
          <p:spPr>
            <a:xfrm rot="5400000">
              <a:off x="-173002" y="880074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6"/>
            <p:cNvPicPr preferRelativeResize="0"/>
            <p:nvPr/>
          </p:nvPicPr>
          <p:blipFill rotWithShape="1">
            <a:blip r:embed="rId4">
              <a:alphaModFix/>
            </a:blip>
            <a:srcRect t="-40485" r="5518" b="65416"/>
            <a:stretch/>
          </p:blipFill>
          <p:spPr>
            <a:xfrm rot="5400000">
              <a:off x="-252077" y="54927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6"/>
            <p:cNvPicPr preferRelativeResize="0"/>
            <p:nvPr/>
          </p:nvPicPr>
          <p:blipFill rotWithShape="1">
            <a:blip r:embed="rId4">
              <a:alphaModFix/>
            </a:blip>
            <a:srcRect l="48893" t="1039" r="12334" b="47016"/>
            <a:stretch/>
          </p:blipFill>
          <p:spPr>
            <a:xfrm rot="5400000">
              <a:off x="128185" y="-138062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6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171901" y="701525"/>
              <a:ext cx="602100" cy="278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6"/>
            <p:cNvPicPr preferRelativeResize="0"/>
            <p:nvPr/>
          </p:nvPicPr>
          <p:blipFill rotWithShape="1">
            <a:blip r:embed="rId3">
              <a:alphaModFix/>
            </a:blip>
            <a:srcRect l="11254" r="13011" b="50882"/>
            <a:stretch/>
          </p:blipFill>
          <p:spPr>
            <a:xfrm rot="5400000">
              <a:off x="-144290" y="1246411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6"/>
            <p:cNvPicPr preferRelativeResize="0"/>
            <p:nvPr/>
          </p:nvPicPr>
          <p:blipFill rotWithShape="1">
            <a:blip r:embed="rId3">
              <a:alphaModFix/>
            </a:blip>
            <a:srcRect l="11254" r="13011" b="50882"/>
            <a:stretch/>
          </p:blipFill>
          <p:spPr>
            <a:xfrm rot="-5400000">
              <a:off x="8555335" y="3857059"/>
              <a:ext cx="732625" cy="4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t="-40485" r="5518" b="65416"/>
            <a:stretch/>
          </p:blipFill>
          <p:spPr>
            <a:xfrm rot="-5400000">
              <a:off x="7501110" y="3212706"/>
              <a:ext cx="1865925" cy="1381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6"/>
            <p:cNvPicPr preferRelativeResize="0"/>
            <p:nvPr/>
          </p:nvPicPr>
          <p:blipFill rotWithShape="1">
            <a:blip r:embed="rId4">
              <a:alphaModFix/>
            </a:blip>
            <a:srcRect l="48893" t="1039" r="12334" b="47016"/>
            <a:stretch/>
          </p:blipFill>
          <p:spPr>
            <a:xfrm rot="-5400000">
              <a:off x="7874773" y="3893445"/>
              <a:ext cx="1112000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6"/>
            <p:cNvPicPr preferRelativeResize="0"/>
            <p:nvPr/>
          </p:nvPicPr>
          <p:blipFill rotWithShape="1">
            <a:blip r:embed="rId5">
              <a:alphaModFix/>
            </a:blip>
            <a:srcRect l="50095" b="50444"/>
            <a:stretch/>
          </p:blipFill>
          <p:spPr>
            <a:xfrm rot="-5400000">
              <a:off x="8683088" y="4682466"/>
              <a:ext cx="478925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6"/>
            <p:cNvPicPr preferRelativeResize="0"/>
            <p:nvPr/>
          </p:nvPicPr>
          <p:blipFill rotWithShape="1">
            <a:blip r:embed="rId3">
              <a:alphaModFix/>
            </a:blip>
            <a:srcRect l="11254" r="13011" b="50882"/>
            <a:stretch/>
          </p:blipFill>
          <p:spPr>
            <a:xfrm rot="-5400000">
              <a:off x="8655548" y="2743197"/>
              <a:ext cx="603700" cy="334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4606200" y="1249125"/>
            <a:ext cx="3618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4606200" y="2073075"/>
            <a:ext cx="3618300" cy="18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-14300" y="0"/>
            <a:ext cx="40029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8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9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subTitle" idx="1"/>
          </p:nvPr>
        </p:nvSpPr>
        <p:spPr>
          <a:xfrm>
            <a:off x="845776" y="2691250"/>
            <a:ext cx="2230200" cy="12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ubTitle" idx="2"/>
          </p:nvPr>
        </p:nvSpPr>
        <p:spPr>
          <a:xfrm>
            <a:off x="3456897" y="2691250"/>
            <a:ext cx="2230200" cy="12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subTitle" idx="3"/>
          </p:nvPr>
        </p:nvSpPr>
        <p:spPr>
          <a:xfrm>
            <a:off x="6068024" y="2691250"/>
            <a:ext cx="2230200" cy="12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ubTitle" idx="4"/>
          </p:nvPr>
        </p:nvSpPr>
        <p:spPr>
          <a:xfrm>
            <a:off x="845778" y="2225040"/>
            <a:ext cx="2230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" name="Google Shape;164;p18"/>
          <p:cNvSpPr txBox="1">
            <a:spLocks noGrp="1"/>
          </p:cNvSpPr>
          <p:nvPr>
            <p:ph type="subTitle" idx="5"/>
          </p:nvPr>
        </p:nvSpPr>
        <p:spPr>
          <a:xfrm>
            <a:off x="3456901" y="2225040"/>
            <a:ext cx="2230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subTitle" idx="6"/>
          </p:nvPr>
        </p:nvSpPr>
        <p:spPr>
          <a:xfrm>
            <a:off x="6068023" y="2225040"/>
            <a:ext cx="2230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66" name="Google Shape;166;p18"/>
          <p:cNvGrpSpPr/>
          <p:nvPr/>
        </p:nvGrpSpPr>
        <p:grpSpPr>
          <a:xfrm rot="10800000" flipH="1">
            <a:off x="-9877" y="0"/>
            <a:ext cx="9178100" cy="5156558"/>
            <a:chOff x="-9877" y="0"/>
            <a:chExt cx="9178100" cy="5156558"/>
          </a:xfrm>
        </p:grpSpPr>
        <p:grpSp>
          <p:nvGrpSpPr>
            <p:cNvPr id="167" name="Google Shape;167;p18"/>
            <p:cNvGrpSpPr/>
            <p:nvPr/>
          </p:nvGrpSpPr>
          <p:grpSpPr>
            <a:xfrm>
              <a:off x="-9877" y="0"/>
              <a:ext cx="1388125" cy="2534723"/>
              <a:chOff x="-9877" y="0"/>
              <a:chExt cx="1388125" cy="2534723"/>
            </a:xfrm>
          </p:grpSpPr>
          <p:pic>
            <p:nvPicPr>
              <p:cNvPr id="168" name="Google Shape;168;p18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" name="Google Shape;169;p18"/>
              <p:cNvPicPr preferRelativeResize="0"/>
              <p:nvPr/>
            </p:nvPicPr>
            <p:blipFill rotWithShape="1">
              <a:blip r:embed="rId4">
                <a:alphaModFix/>
              </a:blip>
              <a:srcRect t="-40485" r="5518" b="65416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0" name="Google Shape;170;p18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9" r="12334" b="47016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1" name="Google Shape;171;p18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2" name="Google Shape;172;p18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73" name="Google Shape;173;p18"/>
            <p:cNvGrpSpPr/>
            <p:nvPr/>
          </p:nvGrpSpPr>
          <p:grpSpPr>
            <a:xfrm rot="10800000">
              <a:off x="7780098" y="2621835"/>
              <a:ext cx="1388125" cy="2534723"/>
              <a:chOff x="-9877" y="0"/>
              <a:chExt cx="1388125" cy="2534723"/>
            </a:xfrm>
          </p:grpSpPr>
          <p:pic>
            <p:nvPicPr>
              <p:cNvPr id="174" name="Google Shape;174;p18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5" name="Google Shape;175;p18"/>
              <p:cNvPicPr preferRelativeResize="0"/>
              <p:nvPr/>
            </p:nvPicPr>
            <p:blipFill rotWithShape="1">
              <a:blip r:embed="rId4">
                <a:alphaModFix/>
              </a:blip>
              <a:srcRect t="-40485" r="5518" b="65416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6" name="Google Shape;176;p18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9" r="12334" b="47016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" name="Google Shape;177;p18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8" name="Google Shape;178;p18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44290" y="2065436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>
            <a:spLocks noGrp="1"/>
          </p:cNvSpPr>
          <p:nvPr>
            <p:ph type="title"/>
          </p:nvPr>
        </p:nvSpPr>
        <p:spPr>
          <a:xfrm>
            <a:off x="720000" y="53949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9"/>
          <p:cNvSpPr txBox="1">
            <a:spLocks noGrp="1"/>
          </p:cNvSpPr>
          <p:nvPr>
            <p:ph type="subTitle" idx="1"/>
          </p:nvPr>
        </p:nvSpPr>
        <p:spPr>
          <a:xfrm>
            <a:off x="1600324" y="19677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9"/>
          <p:cNvSpPr txBox="1">
            <a:spLocks noGrp="1"/>
          </p:cNvSpPr>
          <p:nvPr>
            <p:ph type="subTitle" idx="2"/>
          </p:nvPr>
        </p:nvSpPr>
        <p:spPr>
          <a:xfrm>
            <a:off x="5613000" y="19677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subTitle" idx="3"/>
          </p:nvPr>
        </p:nvSpPr>
        <p:spPr>
          <a:xfrm>
            <a:off x="1600324" y="35521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ubTitle" idx="4"/>
          </p:nvPr>
        </p:nvSpPr>
        <p:spPr>
          <a:xfrm>
            <a:off x="5613000" y="355212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9"/>
          <p:cNvSpPr txBox="1">
            <a:spLocks noGrp="1"/>
          </p:cNvSpPr>
          <p:nvPr>
            <p:ph type="subTitle" idx="5"/>
          </p:nvPr>
        </p:nvSpPr>
        <p:spPr>
          <a:xfrm>
            <a:off x="1600324" y="152200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subTitle" idx="6"/>
          </p:nvPr>
        </p:nvSpPr>
        <p:spPr>
          <a:xfrm>
            <a:off x="1600324" y="310645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8" name="Google Shape;188;p19"/>
          <p:cNvSpPr txBox="1">
            <a:spLocks noGrp="1"/>
          </p:cNvSpPr>
          <p:nvPr>
            <p:ph type="subTitle" idx="7"/>
          </p:nvPr>
        </p:nvSpPr>
        <p:spPr>
          <a:xfrm>
            <a:off x="5612974" y="152200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9" name="Google Shape;189;p19"/>
          <p:cNvSpPr txBox="1">
            <a:spLocks noGrp="1"/>
          </p:cNvSpPr>
          <p:nvPr>
            <p:ph type="subTitle" idx="8"/>
          </p:nvPr>
        </p:nvSpPr>
        <p:spPr>
          <a:xfrm>
            <a:off x="5612974" y="3106450"/>
            <a:ext cx="28110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90" name="Google Shape;190;p19"/>
          <p:cNvGrpSpPr/>
          <p:nvPr/>
        </p:nvGrpSpPr>
        <p:grpSpPr>
          <a:xfrm>
            <a:off x="-9877" y="0"/>
            <a:ext cx="9134712" cy="5143508"/>
            <a:chOff x="-9877" y="0"/>
            <a:chExt cx="9134712" cy="5143508"/>
          </a:xfrm>
        </p:grpSpPr>
        <p:grpSp>
          <p:nvGrpSpPr>
            <p:cNvPr id="191" name="Google Shape;191;p19"/>
            <p:cNvGrpSpPr/>
            <p:nvPr/>
          </p:nvGrpSpPr>
          <p:grpSpPr>
            <a:xfrm>
              <a:off x="-9877" y="0"/>
              <a:ext cx="1388125" cy="2507650"/>
              <a:chOff x="-9877" y="0"/>
              <a:chExt cx="1388125" cy="2507650"/>
            </a:xfrm>
          </p:grpSpPr>
          <p:pic>
            <p:nvPicPr>
              <p:cNvPr id="192" name="Google Shape;192;p19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3" name="Google Shape;193;p19"/>
              <p:cNvPicPr preferRelativeResize="0"/>
              <p:nvPr/>
            </p:nvPicPr>
            <p:blipFill rotWithShape="1">
              <a:blip r:embed="rId4">
                <a:alphaModFix/>
              </a:blip>
              <a:srcRect t="-40485" r="5518" b="65416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4" name="Google Shape;194;p19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9" r="12334" b="47016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5" name="Google Shape;195;p19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6" name="Google Shape;196;p19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44290" y="1246411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7" name="Google Shape;197;p19"/>
            <p:cNvGrpSpPr/>
            <p:nvPr/>
          </p:nvGrpSpPr>
          <p:grpSpPr>
            <a:xfrm>
              <a:off x="7736710" y="2608785"/>
              <a:ext cx="1388125" cy="2534723"/>
              <a:chOff x="7736710" y="2608785"/>
              <a:chExt cx="1388125" cy="2534723"/>
            </a:xfrm>
          </p:grpSpPr>
          <p:pic>
            <p:nvPicPr>
              <p:cNvPr id="198" name="Google Shape;198;p19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-5400000">
                <a:off x="8555335" y="3857059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9" name="Google Shape;199;p19"/>
              <p:cNvPicPr preferRelativeResize="0"/>
              <p:nvPr/>
            </p:nvPicPr>
            <p:blipFill rotWithShape="1">
              <a:blip r:embed="rId4">
                <a:alphaModFix/>
              </a:blip>
              <a:srcRect t="-40485" r="5518" b="65416"/>
              <a:stretch/>
            </p:blipFill>
            <p:spPr>
              <a:xfrm rot="-5400000">
                <a:off x="7501110" y="321270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0" name="Google Shape;200;p19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9" r="12334" b="47016"/>
              <a:stretch/>
            </p:blipFill>
            <p:spPr>
              <a:xfrm rot="-5400000">
                <a:off x="7874773" y="3893445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1" name="Google Shape;201;p19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-5400000">
                <a:off x="8423435" y="4382433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2" name="Google Shape;202;p19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-5400000">
                <a:off x="8655548" y="2743197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1"/>
          </p:nvPr>
        </p:nvSpPr>
        <p:spPr>
          <a:xfrm>
            <a:off x="796200" y="1802471"/>
            <a:ext cx="2397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subTitle" idx="2"/>
          </p:nvPr>
        </p:nvSpPr>
        <p:spPr>
          <a:xfrm>
            <a:off x="3373350" y="1802471"/>
            <a:ext cx="2397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subTitle" idx="3"/>
          </p:nvPr>
        </p:nvSpPr>
        <p:spPr>
          <a:xfrm>
            <a:off x="796200" y="3529550"/>
            <a:ext cx="2397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subTitle" idx="4"/>
          </p:nvPr>
        </p:nvSpPr>
        <p:spPr>
          <a:xfrm>
            <a:off x="3373350" y="3529550"/>
            <a:ext cx="2397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subTitle" idx="5"/>
          </p:nvPr>
        </p:nvSpPr>
        <p:spPr>
          <a:xfrm>
            <a:off x="5950500" y="1802471"/>
            <a:ext cx="2397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0"/>
          <p:cNvSpPr txBox="1">
            <a:spLocks noGrp="1"/>
          </p:cNvSpPr>
          <p:nvPr>
            <p:ph type="subTitle" idx="6"/>
          </p:nvPr>
        </p:nvSpPr>
        <p:spPr>
          <a:xfrm>
            <a:off x="5950500" y="3529550"/>
            <a:ext cx="23973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7"/>
          </p:nvPr>
        </p:nvSpPr>
        <p:spPr>
          <a:xfrm>
            <a:off x="796200" y="1336275"/>
            <a:ext cx="2395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0"/>
          <p:cNvSpPr txBox="1">
            <a:spLocks noGrp="1"/>
          </p:cNvSpPr>
          <p:nvPr>
            <p:ph type="subTitle" idx="8"/>
          </p:nvPr>
        </p:nvSpPr>
        <p:spPr>
          <a:xfrm>
            <a:off x="3373350" y="1336275"/>
            <a:ext cx="2395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0"/>
          <p:cNvSpPr txBox="1">
            <a:spLocks noGrp="1"/>
          </p:cNvSpPr>
          <p:nvPr>
            <p:ph type="subTitle" idx="9"/>
          </p:nvPr>
        </p:nvSpPr>
        <p:spPr>
          <a:xfrm>
            <a:off x="5950500" y="1336275"/>
            <a:ext cx="2395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subTitle" idx="13"/>
          </p:nvPr>
        </p:nvSpPr>
        <p:spPr>
          <a:xfrm>
            <a:off x="796200" y="3063352"/>
            <a:ext cx="2395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6" name="Google Shape;216;p20"/>
          <p:cNvSpPr txBox="1">
            <a:spLocks noGrp="1"/>
          </p:cNvSpPr>
          <p:nvPr>
            <p:ph type="subTitle" idx="14"/>
          </p:nvPr>
        </p:nvSpPr>
        <p:spPr>
          <a:xfrm>
            <a:off x="3373350" y="3063352"/>
            <a:ext cx="2395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7" name="Google Shape;217;p20"/>
          <p:cNvSpPr txBox="1">
            <a:spLocks noGrp="1"/>
          </p:cNvSpPr>
          <p:nvPr>
            <p:ph type="subTitle" idx="15"/>
          </p:nvPr>
        </p:nvSpPr>
        <p:spPr>
          <a:xfrm>
            <a:off x="5950500" y="3063352"/>
            <a:ext cx="23952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18" name="Google Shape;218;p20"/>
          <p:cNvGrpSpPr/>
          <p:nvPr/>
        </p:nvGrpSpPr>
        <p:grpSpPr>
          <a:xfrm rot="10800000" flipH="1">
            <a:off x="-9877" y="0"/>
            <a:ext cx="9134712" cy="5143508"/>
            <a:chOff x="-9877" y="0"/>
            <a:chExt cx="9134712" cy="5143508"/>
          </a:xfrm>
        </p:grpSpPr>
        <p:grpSp>
          <p:nvGrpSpPr>
            <p:cNvPr id="219" name="Google Shape;219;p20"/>
            <p:cNvGrpSpPr/>
            <p:nvPr/>
          </p:nvGrpSpPr>
          <p:grpSpPr>
            <a:xfrm>
              <a:off x="-9877" y="0"/>
              <a:ext cx="1388125" cy="2507650"/>
              <a:chOff x="-9877" y="0"/>
              <a:chExt cx="1388125" cy="2507650"/>
            </a:xfrm>
          </p:grpSpPr>
          <p:pic>
            <p:nvPicPr>
              <p:cNvPr id="220" name="Google Shape;220;p20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73002" y="880074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1" name="Google Shape;221;p20"/>
              <p:cNvPicPr preferRelativeResize="0"/>
              <p:nvPr/>
            </p:nvPicPr>
            <p:blipFill rotWithShape="1">
              <a:blip r:embed="rId4">
                <a:alphaModFix/>
              </a:blip>
              <a:srcRect t="-40485" r="5518" b="65416"/>
              <a:stretch/>
            </p:blipFill>
            <p:spPr>
              <a:xfrm rot="5400000">
                <a:off x="-252077" y="54927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2" name="Google Shape;222;p20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9" r="12334" b="47016"/>
              <a:stretch/>
            </p:blipFill>
            <p:spPr>
              <a:xfrm rot="5400000">
                <a:off x="128185" y="-138062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3" name="Google Shape;223;p20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5400000">
                <a:off x="-268127" y="1806250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4" name="Google Shape;224;p20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5400000">
                <a:off x="-144290" y="1246411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5" name="Google Shape;225;p20"/>
            <p:cNvGrpSpPr/>
            <p:nvPr/>
          </p:nvGrpSpPr>
          <p:grpSpPr>
            <a:xfrm>
              <a:off x="7736710" y="2608785"/>
              <a:ext cx="1388125" cy="2534723"/>
              <a:chOff x="7736710" y="2608785"/>
              <a:chExt cx="1388125" cy="2534723"/>
            </a:xfrm>
          </p:grpSpPr>
          <p:pic>
            <p:nvPicPr>
              <p:cNvPr id="226" name="Google Shape;226;p20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-5400000">
                <a:off x="8555335" y="3857059"/>
                <a:ext cx="732625" cy="4063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7" name="Google Shape;227;p20"/>
              <p:cNvPicPr preferRelativeResize="0"/>
              <p:nvPr/>
            </p:nvPicPr>
            <p:blipFill rotWithShape="1">
              <a:blip r:embed="rId4">
                <a:alphaModFix/>
              </a:blip>
              <a:srcRect t="-40485" r="5518" b="65416"/>
              <a:stretch/>
            </p:blipFill>
            <p:spPr>
              <a:xfrm rot="-5400000">
                <a:off x="7501110" y="3212706"/>
                <a:ext cx="1865925" cy="13815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8" name="Google Shape;228;p20"/>
              <p:cNvPicPr preferRelativeResize="0"/>
              <p:nvPr/>
            </p:nvPicPr>
            <p:blipFill rotWithShape="1">
              <a:blip r:embed="rId4">
                <a:alphaModFix/>
              </a:blip>
              <a:srcRect l="48893" t="1039" r="12334" b="47016"/>
              <a:stretch/>
            </p:blipFill>
            <p:spPr>
              <a:xfrm rot="-5400000">
                <a:off x="7874773" y="3893445"/>
                <a:ext cx="1112000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29" name="Google Shape;229;p20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-5400000">
                <a:off x="8423435" y="4382433"/>
                <a:ext cx="959650" cy="443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0" name="Google Shape;230;p20"/>
              <p:cNvPicPr preferRelativeResize="0"/>
              <p:nvPr/>
            </p:nvPicPr>
            <p:blipFill rotWithShape="1">
              <a:blip r:embed="rId3">
                <a:alphaModFix/>
              </a:blip>
              <a:srcRect l="11254" r="13011" b="50882"/>
              <a:stretch/>
            </p:blipFill>
            <p:spPr>
              <a:xfrm rot="-5400000">
                <a:off x="8655548" y="2743197"/>
                <a:ext cx="603700" cy="334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 b="426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 rotWithShape="1">
          <a:blip r:embed="rId3">
            <a:alphaModFix/>
          </a:blip>
          <a:srcRect l="11254" r="13011" b="50882"/>
          <a:stretch/>
        </p:blipFill>
        <p:spPr>
          <a:xfrm rot="5400000">
            <a:off x="-173002" y="880074"/>
            <a:ext cx="732625" cy="4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/>
          <p:cNvPicPr preferRelativeResize="0"/>
          <p:nvPr/>
        </p:nvPicPr>
        <p:blipFill rotWithShape="1">
          <a:blip r:embed="rId4">
            <a:alphaModFix/>
          </a:blip>
          <a:srcRect t="-40485" r="5518" b="65416"/>
          <a:stretch/>
        </p:blipFill>
        <p:spPr>
          <a:xfrm rot="5400000">
            <a:off x="-252077" y="549276"/>
            <a:ext cx="1865925" cy="13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/>
          <p:cNvPicPr preferRelativeResize="0"/>
          <p:nvPr/>
        </p:nvPicPr>
        <p:blipFill rotWithShape="1">
          <a:blip r:embed="rId4">
            <a:alphaModFix/>
          </a:blip>
          <a:srcRect l="48893" t="1039" r="12334" b="47016"/>
          <a:stretch/>
        </p:blipFill>
        <p:spPr>
          <a:xfrm rot="5400000">
            <a:off x="128185" y="-138062"/>
            <a:ext cx="1112000" cy="13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 rotWithShape="1">
          <a:blip r:embed="rId5">
            <a:alphaModFix/>
          </a:blip>
          <a:srcRect b="50444"/>
          <a:stretch/>
        </p:blipFill>
        <p:spPr>
          <a:xfrm rot="5400000">
            <a:off x="-171901" y="701525"/>
            <a:ext cx="602100" cy="27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/>
          <p:cNvPicPr preferRelativeResize="0"/>
          <p:nvPr/>
        </p:nvPicPr>
        <p:blipFill rotWithShape="1">
          <a:blip r:embed="rId3">
            <a:alphaModFix/>
          </a:blip>
          <a:srcRect l="11254" r="13011" b="50882"/>
          <a:stretch/>
        </p:blipFill>
        <p:spPr>
          <a:xfrm rot="5400000">
            <a:off x="-144290" y="1246411"/>
            <a:ext cx="603700" cy="33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3"/>
          <p:cNvPicPr preferRelativeResize="0"/>
          <p:nvPr/>
        </p:nvPicPr>
        <p:blipFill rotWithShape="1">
          <a:blip r:embed="rId3">
            <a:alphaModFix/>
          </a:blip>
          <a:srcRect l="11254" r="13011" b="50882"/>
          <a:stretch/>
        </p:blipFill>
        <p:spPr>
          <a:xfrm rot="-5400000">
            <a:off x="8555335" y="3857059"/>
            <a:ext cx="732625" cy="40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/>
          <p:cNvPicPr preferRelativeResize="0"/>
          <p:nvPr/>
        </p:nvPicPr>
        <p:blipFill rotWithShape="1">
          <a:blip r:embed="rId4">
            <a:alphaModFix/>
          </a:blip>
          <a:srcRect t="-40485" r="5518" b="65416"/>
          <a:stretch/>
        </p:blipFill>
        <p:spPr>
          <a:xfrm rot="-5400000">
            <a:off x="7501110" y="3212706"/>
            <a:ext cx="1865925" cy="138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/>
          <p:cNvPicPr preferRelativeResize="0"/>
          <p:nvPr/>
        </p:nvPicPr>
        <p:blipFill rotWithShape="1">
          <a:blip r:embed="rId4">
            <a:alphaModFix/>
          </a:blip>
          <a:srcRect l="48893" t="1039" r="12334" b="47016"/>
          <a:stretch/>
        </p:blipFill>
        <p:spPr>
          <a:xfrm rot="-5400000">
            <a:off x="7874773" y="3893445"/>
            <a:ext cx="1112000" cy="138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/>
          <p:cNvPicPr preferRelativeResize="0"/>
          <p:nvPr/>
        </p:nvPicPr>
        <p:blipFill rotWithShape="1">
          <a:blip r:embed="rId5">
            <a:alphaModFix/>
          </a:blip>
          <a:srcRect l="50095" b="50444"/>
          <a:stretch/>
        </p:blipFill>
        <p:spPr>
          <a:xfrm rot="-5400000">
            <a:off x="8683088" y="4682466"/>
            <a:ext cx="478925" cy="4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/>
          <p:cNvPicPr preferRelativeResize="0"/>
          <p:nvPr/>
        </p:nvPicPr>
        <p:blipFill rotWithShape="1">
          <a:blip r:embed="rId3">
            <a:alphaModFix/>
          </a:blip>
          <a:srcRect l="11254" r="13011" b="50882"/>
          <a:stretch/>
        </p:blipFill>
        <p:spPr>
          <a:xfrm rot="-5400000">
            <a:off x="8655548" y="2743197"/>
            <a:ext cx="603700" cy="3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08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■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■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●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tkinson Hyperlegible"/>
              <a:buChar char="○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tkinson Hyperlegible"/>
              <a:buChar char="■"/>
              <a:defRPr sz="1200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64" r:id="rId9"/>
    <p:sldLayoutId id="2147483665" r:id="rId10"/>
    <p:sldLayoutId id="2147483666" r:id="rId11"/>
    <p:sldLayoutId id="2147483669" r:id="rId12"/>
    <p:sldLayoutId id="214748367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>
            <a:spLocks noGrp="1"/>
          </p:cNvSpPr>
          <p:nvPr>
            <p:ph type="ctrTitle"/>
          </p:nvPr>
        </p:nvSpPr>
        <p:spPr>
          <a:xfrm>
            <a:off x="3462725" y="1296972"/>
            <a:ext cx="4813200" cy="223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latin typeface="Times New Roman" panose="02020603050405020304" pitchFamily="18" charset="0"/>
                <a:ea typeface="Yeseva One"/>
                <a:cs typeface="Times New Roman" panose="02020603050405020304" pitchFamily="18" charset="0"/>
                <a:sym typeface="Yeseva One"/>
              </a:rPr>
              <a:t>AI-Driven Real Time Portfolio Risk Alert System</a:t>
            </a:r>
            <a:endParaRPr sz="5400" dirty="0">
              <a:latin typeface="Times New Roman" panose="02020603050405020304" pitchFamily="18" charset="0"/>
              <a:ea typeface="Yeseva One"/>
              <a:cs typeface="Times New Roman" panose="02020603050405020304" pitchFamily="18" charset="0"/>
              <a:sym typeface="Yeseva One"/>
            </a:endParaRPr>
          </a:p>
        </p:txBody>
      </p:sp>
      <p:sp>
        <p:nvSpPr>
          <p:cNvPr id="281" name="Google Shape;281;p28"/>
          <p:cNvSpPr txBox="1">
            <a:spLocks noGrp="1"/>
          </p:cNvSpPr>
          <p:nvPr>
            <p:ph type="subTitle" idx="1"/>
          </p:nvPr>
        </p:nvSpPr>
        <p:spPr>
          <a:xfrm>
            <a:off x="3462725" y="35462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BOBBILI SAI SIDDHARTHA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2" name="Google Shape;282;p28"/>
          <p:cNvGrpSpPr/>
          <p:nvPr/>
        </p:nvGrpSpPr>
        <p:grpSpPr>
          <a:xfrm>
            <a:off x="-22735" y="0"/>
            <a:ext cx="3364110" cy="5187250"/>
            <a:chOff x="-22735" y="0"/>
            <a:chExt cx="3364110" cy="5187250"/>
          </a:xfrm>
        </p:grpSpPr>
        <p:pic>
          <p:nvPicPr>
            <p:cNvPr id="283" name="Google Shape;283;p28"/>
            <p:cNvPicPr preferRelativeResize="0"/>
            <p:nvPr/>
          </p:nvPicPr>
          <p:blipFill rotWithShape="1">
            <a:blip r:embed="rId3">
              <a:alphaModFix/>
            </a:blip>
            <a:srcRect l="5518" t="-5105" b="30035"/>
            <a:stretch/>
          </p:blipFill>
          <p:spPr>
            <a:xfrm rot="5400000">
              <a:off x="-539655" y="1113340"/>
              <a:ext cx="3981888" cy="29480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28"/>
            <p:cNvPicPr preferRelativeResize="0"/>
            <p:nvPr/>
          </p:nvPicPr>
          <p:blipFill rotWithShape="1">
            <a:blip r:embed="rId4">
              <a:alphaModFix/>
            </a:blip>
            <a:srcRect l="11254" r="13011" b="50882"/>
            <a:stretch/>
          </p:blipFill>
          <p:spPr>
            <a:xfrm rot="5400000">
              <a:off x="-600537" y="1202811"/>
              <a:ext cx="2723513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28"/>
            <p:cNvPicPr preferRelativeResize="0"/>
            <p:nvPr/>
          </p:nvPicPr>
          <p:blipFill rotWithShape="1">
            <a:blip r:embed="rId3">
              <a:alphaModFix/>
            </a:blip>
            <a:srcRect t="4103" b="50814"/>
            <a:stretch/>
          </p:blipFill>
          <p:spPr>
            <a:xfrm rot="5400000">
              <a:off x="-1036776" y="2590637"/>
              <a:ext cx="3595978" cy="15106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8"/>
            <p:cNvPicPr preferRelativeResize="0"/>
            <p:nvPr/>
          </p:nvPicPr>
          <p:blipFill rotWithShape="1">
            <a:blip r:embed="rId3">
              <a:alphaModFix/>
            </a:blip>
            <a:srcRect l="5517" t="-5105" r="37552" b="30035"/>
            <a:stretch/>
          </p:blipFill>
          <p:spPr>
            <a:xfrm rot="5400000">
              <a:off x="251575" y="2465300"/>
              <a:ext cx="2399450" cy="2948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7" name="Google Shape;287;p28"/>
            <p:cNvGrpSpPr/>
            <p:nvPr/>
          </p:nvGrpSpPr>
          <p:grpSpPr>
            <a:xfrm rot="-5400000">
              <a:off x="-599782" y="2439476"/>
              <a:ext cx="3281550" cy="2127456"/>
              <a:chOff x="-8" y="0"/>
              <a:chExt cx="3281550" cy="2127456"/>
            </a:xfrm>
          </p:grpSpPr>
          <p:pic>
            <p:nvPicPr>
              <p:cNvPr id="288" name="Google Shape;288;p28"/>
              <p:cNvPicPr preferRelativeResize="0"/>
              <p:nvPr/>
            </p:nvPicPr>
            <p:blipFill rotWithShape="1">
              <a:blip r:embed="rId3">
                <a:alphaModFix/>
              </a:blip>
              <a:srcRect l="5518" t="-5105" b="30035"/>
              <a:stretch/>
            </p:blipFill>
            <p:spPr>
              <a:xfrm rot="10800000">
                <a:off x="408192" y="0"/>
                <a:ext cx="2873350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9" name="Google Shape;289;p28"/>
              <p:cNvPicPr preferRelativeResize="0"/>
              <p:nvPr/>
            </p:nvPicPr>
            <p:blipFill rotWithShape="1">
              <a:blip r:embed="rId4">
                <a:alphaModFix/>
              </a:blip>
              <a:srcRect l="11254" r="13011" b="50882"/>
              <a:stretch/>
            </p:blipFill>
            <p:spPr>
              <a:xfrm rot="10800000">
                <a:off x="1316242" y="20631"/>
                <a:ext cx="1965300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0" name="Google Shape;290;p28"/>
              <p:cNvPicPr preferRelativeResize="0"/>
              <p:nvPr/>
            </p:nvPicPr>
            <p:blipFill rotWithShape="1">
              <a:blip r:embed="rId3">
                <a:alphaModFix/>
              </a:blip>
              <a:srcRect t="4103" b="50814"/>
              <a:stretch/>
            </p:blipFill>
            <p:spPr>
              <a:xfrm rot="10800000">
                <a:off x="-8" y="20626"/>
                <a:ext cx="2594875" cy="1090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1" name="Google Shape;291;p28"/>
              <p:cNvPicPr preferRelativeResize="0"/>
              <p:nvPr/>
            </p:nvPicPr>
            <p:blipFill rotWithShape="1">
              <a:blip r:embed="rId3">
                <a:alphaModFix/>
              </a:blip>
              <a:srcRect l="5519" t="-5105" r="50853" b="30035"/>
              <a:stretch/>
            </p:blipFill>
            <p:spPr>
              <a:xfrm rot="10800000">
                <a:off x="408192" y="6"/>
                <a:ext cx="1326825" cy="2127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2" name="Google Shape;292;p28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10800000">
                <a:off x="5" y="6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3" name="Google Shape;293;p28"/>
              <p:cNvPicPr preferRelativeResize="0"/>
              <p:nvPr/>
            </p:nvPicPr>
            <p:blipFill rotWithShape="1">
              <a:blip r:embed="rId5">
                <a:alphaModFix/>
              </a:blip>
              <a:srcRect b="50444"/>
              <a:stretch/>
            </p:blipFill>
            <p:spPr>
              <a:xfrm rot="10800000">
                <a:off x="5" y="682393"/>
                <a:ext cx="1651475" cy="7626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94" name="Google Shape;294;p28"/>
            <p:cNvPicPr preferRelativeResize="0"/>
            <p:nvPr/>
          </p:nvPicPr>
          <p:blipFill rotWithShape="1">
            <a:blip r:embed="rId3">
              <a:alphaModFix/>
            </a:blip>
            <a:srcRect l="35435" t="1039" r="-10068" b="47016"/>
            <a:stretch/>
          </p:blipFill>
          <p:spPr>
            <a:xfrm rot="5400000">
              <a:off x="-934288" y="911587"/>
              <a:ext cx="5187250" cy="3364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28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280950" y="996475"/>
              <a:ext cx="959650" cy="443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28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638593" y="2163864"/>
              <a:ext cx="2288614" cy="10568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8"/>
            <p:cNvPicPr preferRelativeResize="0"/>
            <p:nvPr/>
          </p:nvPicPr>
          <p:blipFill rotWithShape="1">
            <a:blip r:embed="rId4">
              <a:alphaModFix/>
            </a:blip>
            <a:srcRect l="11254" r="13011" b="50882"/>
            <a:stretch/>
          </p:blipFill>
          <p:spPr>
            <a:xfrm rot="5400000">
              <a:off x="-381573" y="3081635"/>
              <a:ext cx="1611750" cy="8940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1"/>
          <p:cNvSpPr txBox="1">
            <a:spLocks noGrp="1"/>
          </p:cNvSpPr>
          <p:nvPr>
            <p:ph type="title"/>
          </p:nvPr>
        </p:nvSpPr>
        <p:spPr>
          <a:xfrm>
            <a:off x="4613981" y="960304"/>
            <a:ext cx="36183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0" name="Google Shape;330;p31"/>
          <p:cNvSpPr txBox="1">
            <a:spLocks noGrp="1"/>
          </p:cNvSpPr>
          <p:nvPr>
            <p:ph type="subTitle" idx="1"/>
          </p:nvPr>
        </p:nvSpPr>
        <p:spPr>
          <a:xfrm>
            <a:off x="4684172" y="1611209"/>
            <a:ext cx="3618300" cy="18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Clr>
                <a:schemeClr val="dk1"/>
              </a:buClr>
              <a:buSzPts val="11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building a system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portfolio performance in real-time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 and event-driven architecture on AWS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tracks portfolio value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updates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key risks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imbalance and sudden losses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used to generate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explanations and suggestions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indent="-171450">
              <a:buClr>
                <a:schemeClr val="dk1"/>
              </a:buClr>
              <a:buSzPts val="11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insights are displayed through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dashboard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1" name="Google Shape;331;p31"/>
          <p:cNvGrpSpPr/>
          <p:nvPr/>
        </p:nvGrpSpPr>
        <p:grpSpPr>
          <a:xfrm rot="5400000">
            <a:off x="1075110" y="-1374389"/>
            <a:ext cx="1541149" cy="4289929"/>
            <a:chOff x="-22726" y="-218155"/>
            <a:chExt cx="1929330" cy="5370467"/>
          </a:xfrm>
        </p:grpSpPr>
        <p:pic>
          <p:nvPicPr>
            <p:cNvPr id="332" name="Google Shape;332;p31"/>
            <p:cNvPicPr preferRelativeResize="0"/>
            <p:nvPr/>
          </p:nvPicPr>
          <p:blipFill rotWithShape="1">
            <a:blip r:embed="rId3">
              <a:alphaModFix/>
            </a:blip>
            <a:srcRect l="5518" t="-5105" b="30035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31"/>
            <p:cNvPicPr preferRelativeResize="0"/>
            <p:nvPr/>
          </p:nvPicPr>
          <p:blipFill rotWithShape="1">
            <a:blip r:embed="rId4">
              <a:alphaModFix/>
            </a:blip>
            <a:srcRect l="11254" r="13011" b="50882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31"/>
            <p:cNvPicPr preferRelativeResize="0"/>
            <p:nvPr/>
          </p:nvPicPr>
          <p:blipFill rotWithShape="1">
            <a:blip r:embed="rId3">
              <a:alphaModFix/>
            </a:blip>
            <a:srcRect t="4103" b="50814"/>
            <a:stretch/>
          </p:blipFill>
          <p:spPr>
            <a:xfrm rot="5400000">
              <a:off x="-838218" y="3098915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31"/>
            <p:cNvPicPr preferRelativeResize="0"/>
            <p:nvPr/>
          </p:nvPicPr>
          <p:blipFill rotWithShape="1">
            <a:blip r:embed="rId3">
              <a:alphaModFix/>
            </a:blip>
            <a:srcRect l="5518" t="-5105" b="30035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1"/>
            <p:cNvPicPr preferRelativeResize="0"/>
            <p:nvPr/>
          </p:nvPicPr>
          <p:blipFill rotWithShape="1">
            <a:blip r:embed="rId4">
              <a:alphaModFix/>
            </a:blip>
            <a:srcRect l="11254" r="13011" b="50882"/>
            <a:stretch/>
          </p:blipFill>
          <p:spPr>
            <a:xfrm rot="5400000">
              <a:off x="-358012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7" name="Google Shape;337;p31"/>
            <p:cNvPicPr preferRelativeResize="0"/>
            <p:nvPr/>
          </p:nvPicPr>
          <p:blipFill rotWithShape="1">
            <a:blip r:embed="rId3">
              <a:alphaModFix/>
            </a:blip>
            <a:srcRect t="4103" b="50814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31"/>
            <p:cNvPicPr preferRelativeResize="0"/>
            <p:nvPr/>
          </p:nvPicPr>
          <p:blipFill rotWithShape="1">
            <a:blip r:embed="rId3">
              <a:alphaModFix/>
            </a:blip>
            <a:srcRect l="5519" t="-5105" r="50853" b="30035"/>
            <a:stretch/>
          </p:blipFill>
          <p:spPr>
            <a:xfrm rot="5400000">
              <a:off x="299210" y="3435074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31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0" name="Google Shape;340;p31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16866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31"/>
            <p:cNvPicPr preferRelativeResize="0"/>
            <p:nvPr/>
          </p:nvPicPr>
          <p:blipFill rotWithShape="1">
            <a:blip r:embed="rId3">
              <a:alphaModFix/>
            </a:blip>
            <a:srcRect l="35435" t="1039" r="12099" b="47016"/>
            <a:stretch/>
          </p:blipFill>
          <p:spPr>
            <a:xfrm rot="5400000">
              <a:off x="-212794" y="-28057"/>
              <a:ext cx="230949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2" name="Google Shape;342;p31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230383" y="1816890"/>
              <a:ext cx="771750" cy="3563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31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31"/>
            <p:cNvPicPr preferRelativeResize="0"/>
            <p:nvPr/>
          </p:nvPicPr>
          <p:blipFill rotWithShape="1">
            <a:blip r:embed="rId4">
              <a:alphaModFix/>
            </a:blip>
            <a:srcRect l="11254" r="13011" b="50882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5" name="Google Shape;345;p31"/>
          <p:cNvGrpSpPr/>
          <p:nvPr/>
        </p:nvGrpSpPr>
        <p:grpSpPr>
          <a:xfrm rot="-5400000">
            <a:off x="6510233" y="2501761"/>
            <a:ext cx="1665020" cy="3618460"/>
            <a:chOff x="-22726" y="12"/>
            <a:chExt cx="2370810" cy="5152300"/>
          </a:xfrm>
        </p:grpSpPr>
        <p:pic>
          <p:nvPicPr>
            <p:cNvPr id="346" name="Google Shape;346;p31"/>
            <p:cNvPicPr preferRelativeResize="0"/>
            <p:nvPr/>
          </p:nvPicPr>
          <p:blipFill rotWithShape="1">
            <a:blip r:embed="rId3">
              <a:alphaModFix/>
            </a:blip>
            <a:srcRect l="5518" t="-5105" b="30035"/>
            <a:stretch/>
          </p:blipFill>
          <p:spPr>
            <a:xfrm rot="5400000">
              <a:off x="-361014" y="877812"/>
              <a:ext cx="2605925" cy="192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31"/>
            <p:cNvPicPr preferRelativeResize="0"/>
            <p:nvPr/>
          </p:nvPicPr>
          <p:blipFill rotWithShape="1">
            <a:blip r:embed="rId4">
              <a:alphaModFix/>
            </a:blip>
            <a:srcRect l="11254" r="13011" b="50882"/>
            <a:stretch/>
          </p:blipFill>
          <p:spPr>
            <a:xfrm rot="5400000">
              <a:off x="-487394" y="1982825"/>
              <a:ext cx="2190249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31"/>
            <p:cNvPicPr preferRelativeResize="0"/>
            <p:nvPr/>
          </p:nvPicPr>
          <p:blipFill rotWithShape="1">
            <a:blip r:embed="rId3">
              <a:alphaModFix/>
            </a:blip>
            <a:srcRect t="4103" b="50814"/>
            <a:stretch/>
          </p:blipFill>
          <p:spPr>
            <a:xfrm rot="5400000">
              <a:off x="-838218" y="3098916"/>
              <a:ext cx="2891885" cy="12148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31"/>
            <p:cNvPicPr preferRelativeResize="0"/>
            <p:nvPr/>
          </p:nvPicPr>
          <p:blipFill rotWithShape="1">
            <a:blip r:embed="rId3">
              <a:alphaModFix/>
            </a:blip>
            <a:srcRect l="5517" t="-5105" r="37552" b="30035"/>
            <a:stretch/>
          </p:blipFill>
          <p:spPr>
            <a:xfrm rot="5400000">
              <a:off x="197874" y="2998120"/>
              <a:ext cx="1929638" cy="23707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31"/>
            <p:cNvPicPr preferRelativeResize="0"/>
            <p:nvPr/>
          </p:nvPicPr>
          <p:blipFill rotWithShape="1">
            <a:blip r:embed="rId3">
              <a:alphaModFix/>
            </a:blip>
            <a:srcRect l="5518" t="-5105" b="30035"/>
            <a:stretch/>
          </p:blipFill>
          <p:spPr>
            <a:xfrm rot="5400000">
              <a:off x="-288575" y="3041699"/>
              <a:ext cx="2048200" cy="151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31"/>
            <p:cNvPicPr preferRelativeResize="0"/>
            <p:nvPr/>
          </p:nvPicPr>
          <p:blipFill rotWithShape="1">
            <a:blip r:embed="rId4">
              <a:alphaModFix/>
            </a:blip>
            <a:srcRect l="11254" r="13011" b="50882"/>
            <a:stretch/>
          </p:blipFill>
          <p:spPr>
            <a:xfrm rot="5400000">
              <a:off x="-358013" y="2865168"/>
              <a:ext cx="1580494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31"/>
            <p:cNvPicPr preferRelativeResize="0"/>
            <p:nvPr/>
          </p:nvPicPr>
          <p:blipFill rotWithShape="1">
            <a:blip r:embed="rId3">
              <a:alphaModFix/>
            </a:blip>
            <a:srcRect t="4103" b="50814"/>
            <a:stretch/>
          </p:blipFill>
          <p:spPr>
            <a:xfrm rot="5400000">
              <a:off x="-611169" y="3670544"/>
              <a:ext cx="2086798" cy="8767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31"/>
            <p:cNvPicPr preferRelativeResize="0"/>
            <p:nvPr/>
          </p:nvPicPr>
          <p:blipFill rotWithShape="1">
            <a:blip r:embed="rId3">
              <a:alphaModFix/>
            </a:blip>
            <a:srcRect l="5519" t="-5105" r="50853" b="30035"/>
            <a:stretch/>
          </p:blipFill>
          <p:spPr>
            <a:xfrm rot="5400000">
              <a:off x="299210" y="3435075"/>
              <a:ext cx="1067033" cy="1710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4" name="Google Shape;354;p31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38010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31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168668" y="4181573"/>
              <a:ext cx="1328116" cy="6133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6" name="Google Shape;356;p31"/>
            <p:cNvPicPr preferRelativeResize="0"/>
            <p:nvPr/>
          </p:nvPicPr>
          <p:blipFill rotWithShape="1">
            <a:blip r:embed="rId3">
              <a:alphaModFix/>
            </a:blip>
            <a:srcRect l="1558" t="1039" r="7837" b="47016"/>
            <a:stretch/>
          </p:blipFill>
          <p:spPr>
            <a:xfrm rot="5400000">
              <a:off x="-863858" y="841176"/>
              <a:ext cx="3611629" cy="1929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7" name="Google Shape;357;p31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230383" y="1816890"/>
              <a:ext cx="771750" cy="3563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31"/>
            <p:cNvPicPr preferRelativeResize="0"/>
            <p:nvPr/>
          </p:nvPicPr>
          <p:blipFill rotWithShape="1">
            <a:blip r:embed="rId5">
              <a:alphaModFix/>
            </a:blip>
            <a:srcRect b="50444"/>
            <a:stretch/>
          </p:blipFill>
          <p:spPr>
            <a:xfrm rot="5400000">
              <a:off x="-517999" y="2755704"/>
              <a:ext cx="1840503" cy="8499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31"/>
            <p:cNvPicPr preferRelativeResize="0"/>
            <p:nvPr/>
          </p:nvPicPr>
          <p:blipFill rotWithShape="1">
            <a:blip r:embed="rId4">
              <a:alphaModFix/>
            </a:blip>
            <a:srcRect l="11254" r="13011" b="50882"/>
            <a:stretch/>
          </p:blipFill>
          <p:spPr>
            <a:xfrm rot="5400000">
              <a:off x="-311303" y="3493776"/>
              <a:ext cx="1296169" cy="71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B7D9B2C1-5F5B-EB18-01FC-2D1221A5AE0E}"/>
              </a:ext>
            </a:extLst>
          </p:cNvPr>
          <p:cNvSpPr txBox="1"/>
          <p:nvPr/>
        </p:nvSpPr>
        <p:spPr>
          <a:xfrm>
            <a:off x="2064488" y="2412103"/>
            <a:ext cx="472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4E3CB3-F16E-BFB8-A1D1-3DEB3AA797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7" y="207309"/>
            <a:ext cx="4639281" cy="49178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E971D-CD5C-D1D4-3E38-2F595F77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72" y="503626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063D9-2B9F-7314-DC89-E14F8EB54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35" y="1076326"/>
            <a:ext cx="7261507" cy="3399428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Investors do not have an easy way to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their portfolio continuously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 provide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or manual insights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difficult to quickly identify: Risk conditions </a:t>
            </a:r>
          </a:p>
          <a:p>
            <a:pPr marL="15240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Portfolio imbalance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systems that provide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explanations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a system is needed that can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risks automatically and provide insights in real-time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D6093C7-E4F0-337F-39BA-8249D5A80B62}"/>
              </a:ext>
            </a:extLst>
          </p:cNvPr>
          <p:cNvSpPr txBox="1">
            <a:spLocks/>
          </p:cNvSpPr>
          <p:nvPr/>
        </p:nvSpPr>
        <p:spPr>
          <a:xfrm>
            <a:off x="269888" y="283924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sz="3000" b="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9ED3028-64DE-D4E9-3A1B-240E0C6DBE1E}"/>
              </a:ext>
            </a:extLst>
          </p:cNvPr>
          <p:cNvSpPr txBox="1">
            <a:spLocks/>
          </p:cNvSpPr>
          <p:nvPr/>
        </p:nvSpPr>
        <p:spPr>
          <a:xfrm>
            <a:off x="89135" y="3443786"/>
            <a:ext cx="7261507" cy="3399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tkinson Hyperlegible"/>
                <a:ea typeface="Atkinson Hyperlegible"/>
                <a:cs typeface="Atkinson Hyperlegible"/>
                <a:sym typeface="Atkinson Hyperlegible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portfolio value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near real-time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conditions automatically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explanations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recommendations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on a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dashboard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531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7B2B-A76D-18F2-A53F-3883D3C9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ARCHITECHTURE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EB9C6-F7F7-CF11-F071-BFF76D4EF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874" y="572700"/>
            <a:ext cx="6756769" cy="450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3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Was Built</a:t>
            </a:r>
            <a:endParaRPr lang="en-US" sz="3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78638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fully working, end-to-end system — locally runnable, production-deployable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4114800" cy="3493008"/>
          </a:xfrm>
          <a:prstGeom prst="rect">
            <a:avLst/>
          </a:prstGeom>
          <a:solidFill>
            <a:srgbClr val="0D2137"/>
          </a:solidFill>
          <a:ln w="6350">
            <a:solidFill>
              <a:srgbClr val="1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170432"/>
            <a:ext cx="4114800" cy="438912"/>
          </a:xfrm>
          <a:prstGeom prst="rect">
            <a:avLst/>
          </a:prstGeom>
          <a:solidFill>
            <a:srgbClr val="009999"/>
          </a:solidFill>
          <a:ln w="12700">
            <a:solidFill>
              <a:srgbClr val="009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7043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4048" y="1783080"/>
            <a:ext cx="292608" cy="292608"/>
          </a:xfrm>
          <a:prstGeom prst="ellipse">
            <a:avLst/>
          </a:prstGeom>
          <a:solidFill>
            <a:srgbClr val="009999">
              <a:alpha val="25000"/>
            </a:srgbClr>
          </a:solidFill>
          <a:ln w="10160">
            <a:solidFill>
              <a:srgbClr val="00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755648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FastAPI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096" y="197510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 process · 4 APIRouter microservices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4048" y="2276856"/>
            <a:ext cx="292608" cy="292608"/>
          </a:xfrm>
          <a:prstGeom prst="ellipse">
            <a:avLst/>
          </a:prstGeom>
          <a:solidFill>
            <a:srgbClr val="009999">
              <a:alpha val="25000"/>
            </a:srgbClr>
          </a:solidFill>
          <a:ln w="10160">
            <a:solidFill>
              <a:srgbClr val="00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249424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main.py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8096" y="246888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all logic in one deployable unit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4048" y="2770632"/>
            <a:ext cx="292608" cy="292608"/>
          </a:xfrm>
          <a:prstGeom prst="ellipse">
            <a:avLst/>
          </a:prstGeom>
          <a:solidFill>
            <a:srgbClr val="009999">
              <a:alpha val="25000"/>
            </a:srgbClr>
          </a:solidFill>
          <a:ln w="10160">
            <a:solidFill>
              <a:srgbClr val="00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2743200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AWS Mocking (moto)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096" y="296265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DynamoDB, SQS, EventBridge — in-memory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4048" y="3264408"/>
            <a:ext cx="292608" cy="292608"/>
          </a:xfrm>
          <a:prstGeom prst="ellipse">
            <a:avLst/>
          </a:prstGeom>
          <a:solidFill>
            <a:srgbClr val="009999">
              <a:alpha val="25000"/>
            </a:srgbClr>
          </a:solidFill>
          <a:ln w="10160">
            <a:solidFill>
              <a:srgbClr val="0099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236976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 Simulation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8096" y="345643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Background thread every 5–10 seconds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4048" y="3758184"/>
            <a:ext cx="292608" cy="292608"/>
          </a:xfrm>
          <a:prstGeom prst="ellipse">
            <a:avLst/>
          </a:prstGeom>
          <a:solidFill>
            <a:srgbClr val="009999">
              <a:alpha val="25000"/>
            </a:srgbClr>
          </a:solidFill>
          <a:ln w="10160">
            <a:solidFill>
              <a:srgbClr val="00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730752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Logging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8096" y="395020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CloudWatch-compatible JSON format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84048" y="4251960"/>
            <a:ext cx="292608" cy="292608"/>
          </a:xfrm>
          <a:prstGeom prst="ellipse">
            <a:avLst/>
          </a:prstGeom>
          <a:solidFill>
            <a:srgbClr val="009999">
              <a:alpha val="25000"/>
            </a:srgbClr>
          </a:solidFill>
          <a:ln w="10160">
            <a:solidFill>
              <a:srgbClr val="0099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224528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Uvicorn ASGI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096" y="444398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Server runs on port 8000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45152" y="1170432"/>
            <a:ext cx="4114800" cy="3493008"/>
          </a:xfrm>
          <a:prstGeom prst="rect">
            <a:avLst/>
          </a:prstGeom>
          <a:solidFill>
            <a:srgbClr val="0D2137"/>
          </a:solidFill>
          <a:ln w="6350">
            <a:solidFill>
              <a:srgbClr val="1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1170432"/>
            <a:ext cx="4114800" cy="438912"/>
          </a:xfrm>
          <a:prstGeom prst="rect">
            <a:avLst/>
          </a:prstGeom>
          <a:solidFill>
            <a:srgbClr val="007A82"/>
          </a:solidFill>
          <a:ln w="12700">
            <a:solidFill>
              <a:srgbClr val="007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117043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73168" y="1783080"/>
            <a:ext cx="292608" cy="292608"/>
          </a:xfrm>
          <a:prstGeom prst="ellipse">
            <a:avLst/>
          </a:prstGeom>
          <a:solidFill>
            <a:srgbClr val="007A82">
              <a:alpha val="25000"/>
            </a:srgbClr>
          </a:solidFill>
          <a:ln w="10160">
            <a:solidFill>
              <a:srgbClr val="007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1755648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React + Vite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57216" y="197510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auto-refreshes every 8 seconds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773168" y="2276856"/>
            <a:ext cx="292608" cy="292608"/>
          </a:xfrm>
          <a:prstGeom prst="ellipse">
            <a:avLst/>
          </a:prstGeom>
          <a:solidFill>
            <a:srgbClr val="007A82">
              <a:alpha val="25000"/>
            </a:srgbClr>
          </a:solidFill>
          <a:ln w="10160">
            <a:solidFill>
              <a:srgbClr val="007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2249424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57216" y="2468880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AUM · risk counts · 20 equity prices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73168" y="2770632"/>
            <a:ext cx="292608" cy="292608"/>
          </a:xfrm>
          <a:prstGeom prst="ellipse">
            <a:avLst/>
          </a:prstGeom>
          <a:solidFill>
            <a:srgbClr val="007A82">
              <a:alpha val="25000"/>
            </a:srgbClr>
          </a:solidFill>
          <a:ln w="10160">
            <a:solidFill>
              <a:srgbClr val="007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57216" y="2743200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Clients Page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157216" y="2962656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100 portfolios with AI insights per card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773168" y="3264408"/>
            <a:ext cx="292608" cy="292608"/>
          </a:xfrm>
          <a:prstGeom prst="ellipse">
            <a:avLst/>
          </a:prstGeom>
          <a:solidFill>
            <a:srgbClr val="007A82">
              <a:alpha val="25000"/>
            </a:srgbClr>
          </a:solidFill>
          <a:ln w="10160">
            <a:solidFill>
              <a:srgbClr val="007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57216" y="3236976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Analytics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157216" y="3456432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Tabbed HIGH / MEDIUM / LOW + alert table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73168" y="3758184"/>
            <a:ext cx="292608" cy="292608"/>
          </a:xfrm>
          <a:prstGeom prst="ellipse">
            <a:avLst/>
          </a:prstGeom>
          <a:solidFill>
            <a:srgbClr val="007A82">
              <a:alpha val="25000"/>
            </a:srgbClr>
          </a:solidFill>
          <a:ln w="10160">
            <a:solidFill>
              <a:srgbClr val="007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57216" y="3730752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Feed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57216" y="3950208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Live stream of risk breach alerts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73168" y="4251960"/>
            <a:ext cx="292608" cy="292608"/>
          </a:xfrm>
          <a:prstGeom prst="ellipse">
            <a:avLst/>
          </a:prstGeom>
          <a:solidFill>
            <a:srgbClr val="007A82">
              <a:alpha val="25000"/>
            </a:srgbClr>
          </a:solidFill>
          <a:ln w="10160">
            <a:solidFill>
              <a:srgbClr val="007A8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57216" y="4224528"/>
            <a:ext cx="349300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Assistant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57216" y="4443984"/>
            <a:ext cx="34930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Chat UI · 15 intent patterns · fuzzy match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56032" y="46817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56032" y="4992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450592" y="46817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450592" y="4992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645152" y="46817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645152" y="4992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839712" y="46817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839712" y="4992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C35A-340B-65BA-A6B1-41830486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MICROSERVICES(API)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2F9BE-4913-E789-D4BB-DB5750DA7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1735564"/>
            <a:ext cx="3497581" cy="11777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/portfolio-service/clients → Fetch all client portfolios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/portfolio-service/portfolios/{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→ Get specific portfolio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/portfolio-service/admin/seed → Initialize sample data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46171E7-C38D-B9A6-598A-9C84B7758E8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926419" y="1735564"/>
            <a:ext cx="3877337" cy="1411908"/>
          </a:xfrm>
        </p:spPr>
        <p:txBody>
          <a:bodyPr/>
          <a:lstStyle/>
          <a:p>
            <a:pPr marL="342900" lvl="0" indent="-342900">
              <a:buClrTx/>
              <a:buSzPct val="100000"/>
              <a:buFontTx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/market-data-service/prices → Get all stock prices </a:t>
            </a:r>
          </a:p>
          <a:p>
            <a:pPr marL="342900" lvl="0" indent="-342900">
              <a:buClrTx/>
              <a:buSzPct val="100000"/>
              <a:buFontTx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/market-data-service/prices/{ticker} → Get price of a stock </a:t>
            </a:r>
          </a:p>
          <a:p>
            <a:pPr marL="342900" lvl="0" indent="-342900">
              <a:buClrTx/>
              <a:buSzPct val="100000"/>
              <a:buFontTx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/market-data-service/feed/{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→ Real-time activity feed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5148BD-5D7F-0202-62E2-F89416C8100B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720000" y="3649103"/>
            <a:ext cx="3497581" cy="81657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/risk-service/alerts → Get all risk alerts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/risk-service/alerts/{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→ Client-specific alerts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/risk-service/analytics → Risk analysis summary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/risk-service/revalued/{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→ Portfolio revaluation data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F0DECD9-CE68-6C02-DC13-8ED8875C638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4926420" y="3649103"/>
            <a:ext cx="3877337" cy="111330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/ai-insight-service/insights → Get AI-generated insights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/ai-insight-service/insights/{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}/latest → Latest insight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/ai-insight-service/query → AI assistant query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F472155-20B8-4940-1C5E-F42809DD7C93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845268" y="1269364"/>
            <a:ext cx="2811000" cy="46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E4D40C9-8AA0-64E5-2077-46B3140049A5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927985" y="3218937"/>
            <a:ext cx="2811000" cy="46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24D527E0-4F18-4281-6287-00BFF8A7EAE4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5201848" y="1336293"/>
            <a:ext cx="2811000" cy="46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DATA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76E8B975-F610-A8C8-844A-EB8E898D8FCC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5405015" y="3247206"/>
            <a:ext cx="2811000" cy="46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INSIGHT</a:t>
            </a:r>
          </a:p>
        </p:txBody>
      </p:sp>
    </p:spTree>
    <p:extLst>
      <p:ext uri="{BB962C8B-B14F-4D97-AF65-F5344CB8AC3E}">
        <p14:creationId xmlns:p14="http://schemas.microsoft.com/office/powerpoint/2010/main" val="4213778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EVENT-DRIVEN PIPELINE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9184" y="747469"/>
            <a:ext cx="1554480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" y="716847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Market Data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2608" y="1306635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 tick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5–10s interval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92808" y="2057400"/>
            <a:ext cx="118872" cy="0"/>
          </a:xfrm>
          <a:prstGeom prst="line">
            <a:avLst/>
          </a:prstGeom>
          <a:noFill/>
          <a:ln w="19050">
            <a:solidFill>
              <a:srgbClr val="007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18745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A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39112" y="745236"/>
            <a:ext cx="1554480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0824" y="69228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EventBridge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PriceUpdated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29968" y="12962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portfolio-risk-bus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price-updates-q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11880" y="2057400"/>
            <a:ext cx="118872" cy="0"/>
          </a:xfrm>
          <a:prstGeom prst="line">
            <a:avLst/>
          </a:prstGeom>
          <a:noFill/>
          <a:ln w="19050">
            <a:solidFill>
              <a:srgbClr val="007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8745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A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758184" y="745236"/>
            <a:ext cx="1554480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FBBF2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2464" y="69228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 Service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run_risk_check()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66744" y="1306635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portfolios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 cycle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30952" y="2057400"/>
            <a:ext cx="118872" cy="0"/>
          </a:xfrm>
          <a:prstGeom prst="line">
            <a:avLst/>
          </a:prstGeom>
          <a:noFill/>
          <a:ln w="19050">
            <a:solidFill>
              <a:srgbClr val="00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8745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A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68112" y="731166"/>
            <a:ext cx="1554480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F871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95544" y="655479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EventBridge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RiskThresholdBreached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67528" y="132063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PortfolioRevalued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also published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050024" y="2057400"/>
            <a:ext cx="118872" cy="0"/>
          </a:xfrm>
          <a:prstGeom prst="line">
            <a:avLst/>
          </a:prstGeom>
          <a:noFill/>
          <a:ln w="19050">
            <a:solidFill>
              <a:srgbClr val="007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0024" y="18745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7A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196328" y="731166"/>
            <a:ext cx="1554480" cy="1371600"/>
          </a:xfrm>
          <a:prstGeom prst="rect">
            <a:avLst/>
          </a:prstGeom>
          <a:solidFill>
            <a:srgbClr val="112244"/>
          </a:solidFill>
          <a:ln w="1905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624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DE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Insight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4ADE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Service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14032" y="132063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Bedrock / mock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JSON output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7472" y="22128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Event Schemas (defined JSON structure)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7472" y="2538204"/>
            <a:ext cx="2011680" cy="1508760"/>
          </a:xfrm>
          <a:prstGeom prst="rect">
            <a:avLst/>
          </a:prstGeom>
          <a:solidFill>
            <a:srgbClr val="1E2D40"/>
          </a:solidFill>
          <a:ln w="10160">
            <a:solidFill>
              <a:srgbClr val="007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" y="255663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PriceUpdated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632" y="372160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6636" y="2948940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event_type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PriceUpdated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"ticker": "AAPL",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"price": 187.45,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change_pct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1.05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560320" y="2540189"/>
            <a:ext cx="2011680" cy="1508760"/>
          </a:xfrm>
          <a:prstGeom prst="rect">
            <a:avLst/>
          </a:prstGeom>
          <a:solidFill>
            <a:srgbClr val="1E2D40"/>
          </a:solidFill>
          <a:ln w="10160">
            <a:solidFill>
              <a:srgbClr val="007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898648" y="256585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PortfolioRevalued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660904" y="372160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676906" y="2993988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event_type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PortfolioRevalued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"CL-1005",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total_value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142350.75,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daily_change_pct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1.53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8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741164" y="2532888"/>
            <a:ext cx="2011680" cy="1508760"/>
          </a:xfrm>
          <a:prstGeom prst="rect">
            <a:avLst/>
          </a:prstGeom>
          <a:solidFill>
            <a:srgbClr val="1E2D40"/>
          </a:solidFill>
          <a:ln w="10160">
            <a:solidFill>
              <a:srgbClr val="007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57040" y="2570669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RiskThresholdBreached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837176" y="372160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837176" y="3058421"/>
            <a:ext cx="189052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event_type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RiskThresholdBreached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"CL-1042",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risk_level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"HIGH",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"breach": "Single stock exposure exceeded"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sz="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44868" y="2524736"/>
            <a:ext cx="2011680" cy="1508760"/>
          </a:xfrm>
          <a:prstGeom prst="rect">
            <a:avLst/>
          </a:prstGeom>
          <a:solidFill>
            <a:srgbClr val="1E2D40"/>
          </a:solidFill>
          <a:ln w="10160">
            <a:solidFill>
              <a:srgbClr val="007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195336" y="256585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AIInsightGenerated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13448" y="3721608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047738" y="3058421"/>
            <a:ext cx="1874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event_type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AIInsightGenerated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risk_level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"HIGH",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05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suggested_action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"Rebalance portfolio to reduce risk"</a:t>
            </a:r>
            <a:b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459007-5787-0214-845D-286526148098}"/>
              </a:ext>
            </a:extLst>
          </p:cNvPr>
          <p:cNvSpPr txBox="1"/>
          <p:nvPr/>
        </p:nvSpPr>
        <p:spPr>
          <a:xfrm>
            <a:off x="343290" y="4174342"/>
            <a:ext cx="2098158" cy="830997"/>
          </a:xfrm>
          <a:prstGeom prst="rect">
            <a:avLst/>
          </a:prstGeom>
          <a:solidFill>
            <a:schemeClr val="accent2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communication between services by publishing stock price updates.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072A5D3-6EC0-244F-62FD-07FBDE307E7B}"/>
              </a:ext>
            </a:extLst>
          </p:cNvPr>
          <p:cNvSpPr txBox="1"/>
          <p:nvPr/>
        </p:nvSpPr>
        <p:spPr>
          <a:xfrm>
            <a:off x="2475738" y="4168200"/>
            <a:ext cx="2180844" cy="830997"/>
          </a:xfrm>
          <a:prstGeom prst="rect">
            <a:avLst/>
          </a:prstGeom>
          <a:solidFill>
            <a:schemeClr val="accent4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after recalculating the portfolio value and is used to track performance and trigger further risk analysis.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65268E-0BF4-76FB-E2B2-4F2A712689D4}"/>
              </a:ext>
            </a:extLst>
          </p:cNvPr>
          <p:cNvSpPr txBox="1"/>
          <p:nvPr/>
        </p:nvSpPr>
        <p:spPr>
          <a:xfrm>
            <a:off x="4807759" y="4174341"/>
            <a:ext cx="2058392" cy="830997"/>
          </a:xfrm>
          <a:prstGeom prst="rect">
            <a:avLst/>
          </a:prstGeom>
          <a:solidFill>
            <a:schemeClr val="accent4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when portfolio risk limits are exceeded and is used to trigger AI-based insights and alerts.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E9A5F7-A6AA-8DAE-ED40-8F363131F6D5}"/>
              </a:ext>
            </a:extLst>
          </p:cNvPr>
          <p:cNvSpPr txBox="1"/>
          <p:nvPr/>
        </p:nvSpPr>
        <p:spPr>
          <a:xfrm>
            <a:off x="7047738" y="4174341"/>
            <a:ext cx="1908810" cy="830997"/>
          </a:xfrm>
          <a:prstGeom prst="rect">
            <a:avLst/>
          </a:prstGeom>
          <a:solidFill>
            <a:schemeClr val="accent4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after AI analyzes the risk and provides a clear explanation along with suggested actions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2445-9C13-D043-2019-8B80E875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44" y="222081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DETECTION LOGIC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E8E8C-EC2E-E50B-ED00-B3B62CEFD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447" y="2218255"/>
            <a:ext cx="2230200" cy="1272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actual allocation with target allocation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imbalance in portfolio distribution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triggered if deviation exceeds 5%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2323ADC-5048-5137-B2EF-5A1C5E869EA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2890396" y="2232725"/>
            <a:ext cx="2230200" cy="1272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how much a single stock contributes to the portfolio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concentration risk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triggered if one stock exceeds 20%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D28A70E-AD9C-3D08-0770-4F32E7992DA2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5932780" y="2218255"/>
            <a:ext cx="2230200" cy="1272000"/>
          </a:xfrm>
        </p:spPr>
        <p:txBody>
          <a:bodyPr/>
          <a:lstStyle/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change in portfolio value over a day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sudden losses 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triggered if portfolio drops more than 3%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24D6E41-58DC-BA43-3D9A-74B2B10E52C4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66344" y="1985341"/>
            <a:ext cx="2230200" cy="466200"/>
          </a:xfrm>
        </p:spPr>
        <p:txBody>
          <a:bodyPr/>
          <a:lstStyle/>
          <a:p>
            <a:r>
              <a:rPr lang="en-US" b="1" dirty="0">
                <a:solidFill>
                  <a:srgbClr val="FBBF2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  Allocation Drift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7E58033-D729-E1E7-4EFB-7A43551BA3CC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2833123" y="1999625"/>
            <a:ext cx="2230200" cy="466200"/>
          </a:xfrm>
        </p:spPr>
        <p:txBody>
          <a:bodyPr/>
          <a:lstStyle/>
          <a:p>
            <a:r>
              <a:rPr lang="en-US" b="1" dirty="0">
                <a:solidFill>
                  <a:srgbClr val="F8717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🔴  Single Stock Overexposure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768B3C9-413F-894F-770A-065DBB29BA3B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875507" y="2000222"/>
            <a:ext cx="2230200" cy="466200"/>
          </a:xfrm>
        </p:spPr>
        <p:txBody>
          <a:bodyPr/>
          <a:lstStyle/>
          <a:p>
            <a:r>
              <a:rPr lang="en-US" b="1" dirty="0">
                <a:solidFill>
                  <a:srgbClr val="F8717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📉  Daily Portfolio Drop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F457FD-6F8A-8EE1-CEE8-A75E8C4050AD}"/>
              </a:ext>
            </a:extLst>
          </p:cNvPr>
          <p:cNvSpPr txBox="1"/>
          <p:nvPr/>
        </p:nvSpPr>
        <p:spPr>
          <a:xfrm>
            <a:off x="266344" y="794781"/>
            <a:ext cx="5947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checks risk conditions after every price update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B77E79-F315-9818-F2F5-51B65FA7B057}"/>
              </a:ext>
            </a:extLst>
          </p:cNvPr>
          <p:cNvSpPr txBox="1"/>
          <p:nvPr/>
        </p:nvSpPr>
        <p:spPr>
          <a:xfrm>
            <a:off x="276447" y="3887054"/>
            <a:ext cx="57025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after every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update event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evaluates all portfolios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RiskThresholdBreached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any condition is met</a:t>
            </a:r>
          </a:p>
        </p:txBody>
      </p:sp>
    </p:spTree>
    <p:extLst>
      <p:ext uri="{BB962C8B-B14F-4D97-AF65-F5344CB8AC3E}">
        <p14:creationId xmlns:p14="http://schemas.microsoft.com/office/powerpoint/2010/main" val="201003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Insight Engine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" y="1165860"/>
            <a:ext cx="4023360" cy="2286000"/>
          </a:xfrm>
          <a:prstGeom prst="rect">
            <a:avLst/>
          </a:prstGeom>
          <a:solidFill>
            <a:srgbClr val="112244"/>
          </a:solidFill>
          <a:ln w="1524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16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C2C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Production — Amazon Bedrock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advanced AI model to generate insights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Transforms risk data into clear, human-readable explanations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actionable recommendations for investors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structured and consistent JSON output </a:t>
            </a:r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2286000"/>
          </a:xfrm>
          <a:prstGeom prst="rect">
            <a:avLst/>
          </a:prstGeom>
          <a:solidFill>
            <a:srgbClr val="112244"/>
          </a:solidFill>
          <a:ln w="15240">
            <a:solidFill>
              <a:srgbClr val="4ADE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16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ADE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 — Python Rule Engine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0600" y="16002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logic to simulate AI behavior </a:t>
            </a:r>
          </a:p>
          <a:p>
            <a:pPr marL="171450" indent="-17145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different risk conditions efficiently </a:t>
            </a:r>
          </a:p>
          <a:p>
            <a:pPr marL="171450" indent="-17145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consistent and reliable output format </a:t>
            </a:r>
          </a:p>
          <a:p>
            <a:pPr marL="171450" indent="-171450">
              <a:buSzPct val="100000"/>
              <a:buFont typeface="Wingdings" panose="05000000000000000000" pitchFamily="2" charset="2"/>
              <a:buChar char="q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mandatory advisory disclaimer</a:t>
            </a:r>
          </a:p>
        </p:txBody>
      </p:sp>
      <p:sp>
        <p:nvSpPr>
          <p:cNvPr id="11" name="Shape 9"/>
          <p:cNvSpPr/>
          <p:nvPr/>
        </p:nvSpPr>
        <p:spPr>
          <a:xfrm>
            <a:off x="411480" y="3566160"/>
            <a:ext cx="8321040" cy="1280160"/>
          </a:xfrm>
          <a:prstGeom prst="rect">
            <a:avLst/>
          </a:prstGeom>
          <a:solidFill>
            <a:srgbClr val="1E2D40"/>
          </a:solidFill>
          <a:ln w="12700">
            <a:solidFill>
              <a:srgbClr val="007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630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JSON Schema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8FD0E7-A9CC-6AD9-080F-AB2CBF074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36" y="3858263"/>
            <a:ext cx="5322148" cy="9702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734D-7E7A-E9C1-1006-811905AA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723" y="129164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151688-505F-9D53-8D89-9E8B17B36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345" y="1410689"/>
            <a:ext cx="2485078" cy="103073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all client requests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API calls to different microservices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API access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DD03897-67FB-D595-A1C1-6E2BEBA047A4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3022158" y="1435565"/>
            <a:ext cx="2605165" cy="98098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run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logic for each microservice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portfolio processing, risk detection, and AI flow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serverless execution and automatic scaling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42E333-BFC0-5FA6-7500-CD07A6F39889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260188" y="3395383"/>
            <a:ext cx="2395200" cy="132451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communication between services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Publishes and routes events like: Price updates </a:t>
            </a:r>
          </a:p>
          <a:p>
            <a:pPr marL="152400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Risk alerts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loose coupling between microservices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32C3FA9D-399D-DD2D-6FE0-D90763935BF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872423" y="3249757"/>
            <a:ext cx="2711471" cy="1470138"/>
          </a:xfrm>
        </p:spPr>
        <p:txBody>
          <a:bodyPr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queues: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price-updates-q, risk-alerts-q, ai-insights-q, portfolio-events-q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Provides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decoupling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between microservices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Created via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sqs_client.create_queue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() at startup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Queue URLs auto-discovered from moto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9E7FBD0-3B63-0838-5B17-0E4A066E9256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688230" y="1392163"/>
            <a:ext cx="2605165" cy="1264380"/>
          </a:xfrm>
        </p:spPr>
        <p:txBody>
          <a:bodyPr/>
          <a:lstStyle/>
          <a:p>
            <a:pPr marL="323850" indent="-1714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data, risk</a:t>
            </a:r>
          </a:p>
          <a:p>
            <a:pPr marL="152400" indent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alerts, and AI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23850" indent="-1714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real-time data retrieval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23850" indent="-171450"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NoSQL storage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9C9022B-691E-B9D9-3010-B17E3B584817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5896095" y="3346842"/>
            <a:ext cx="2397300" cy="923400"/>
          </a:xfrm>
        </p:spPr>
        <p:txBody>
          <a:bodyPr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JSON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log format throughout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Fields: time, level, service, msg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logging.basicConfig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() with JSON format string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Warnings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on </a:t>
            </a: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RiskThresholdBreached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events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A98AF5BC-F828-FDE9-62AE-BFE606D94B04}"/>
              </a:ext>
            </a:extLst>
          </p:cNvPr>
          <p:cNvSpPr>
            <a:spLocks noGrp="1"/>
          </p:cNvSpPr>
          <p:nvPr>
            <p:ph type="subTitle" idx="7"/>
          </p:nvPr>
        </p:nvSpPr>
        <p:spPr>
          <a:xfrm>
            <a:off x="477222" y="757950"/>
            <a:ext cx="2451907" cy="69857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Amazon API Gateway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44B116D-1BE8-54AB-A559-A8A0A86D87F5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3052273" y="850155"/>
            <a:ext cx="2395200" cy="46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AWS Lambda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8DAAFEB9-B6F4-233D-087C-868655D65AC2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5631523" y="925963"/>
            <a:ext cx="2395200" cy="46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Amazon DynamoDB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EC9C7019-BBB5-94CA-FBBC-A60C01D6693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477223" y="2793883"/>
            <a:ext cx="2395200" cy="54541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Amazon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EventBridge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ubtitle 12">
            <a:extLst>
              <a:ext uri="{FF2B5EF4-FFF2-40B4-BE49-F238E27FC236}">
                <a16:creationId xmlns:a16="http://schemas.microsoft.com/office/drawing/2014/main" id="{7EA5C7F0-07F0-EA69-750A-045C5ACB1DC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089458" y="2743950"/>
            <a:ext cx="2395200" cy="46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Amazon SQS</a:t>
            </a:r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0768372C-3DA0-8B55-78BC-299C852C2897}"/>
              </a:ext>
            </a:extLst>
          </p:cNvPr>
          <p:cNvSpPr>
            <a:spLocks noGrp="1"/>
          </p:cNvSpPr>
          <p:nvPr>
            <p:ph type="subTitle" idx="15"/>
          </p:nvPr>
        </p:nvSpPr>
        <p:spPr>
          <a:xfrm>
            <a:off x="5627323" y="2873097"/>
            <a:ext cx="2395200" cy="4662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Amazon CloudWatch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7CF2A3-D5BA-D41B-5BEC-2346741C40AB}"/>
              </a:ext>
            </a:extLst>
          </p:cNvPr>
          <p:cNvCxnSpPr/>
          <p:nvPr/>
        </p:nvCxnSpPr>
        <p:spPr>
          <a:xfrm>
            <a:off x="2929129" y="757950"/>
            <a:ext cx="0" cy="428897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C3BC14-1459-94CE-A073-00701CF69CA0}"/>
              </a:ext>
            </a:extLst>
          </p:cNvPr>
          <p:cNvCxnSpPr>
            <a:cxnSpLocks/>
          </p:cNvCxnSpPr>
          <p:nvPr/>
        </p:nvCxnSpPr>
        <p:spPr>
          <a:xfrm>
            <a:off x="5631522" y="757950"/>
            <a:ext cx="75515" cy="438555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247716-9323-A7C5-DE07-5E8AE5DAA724}"/>
              </a:ext>
            </a:extLst>
          </p:cNvPr>
          <p:cNvCxnSpPr>
            <a:cxnSpLocks/>
          </p:cNvCxnSpPr>
          <p:nvPr/>
        </p:nvCxnSpPr>
        <p:spPr>
          <a:xfrm>
            <a:off x="85060" y="2656543"/>
            <a:ext cx="876122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475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48B274E-19C3-72AD-6F9A-E54C00339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95" y="656918"/>
            <a:ext cx="8375830" cy="37020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2C7807-7BAC-0FC9-5498-EBE5CF95F888}"/>
              </a:ext>
            </a:extLst>
          </p:cNvPr>
          <p:cNvSpPr txBox="1"/>
          <p:nvPr/>
        </p:nvSpPr>
        <p:spPr>
          <a:xfrm>
            <a:off x="191385" y="135938"/>
            <a:ext cx="5195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FF5B8D-5146-AA17-6C10-672983C6CF68}"/>
              </a:ext>
            </a:extLst>
          </p:cNvPr>
          <p:cNvSpPr txBox="1"/>
          <p:nvPr/>
        </p:nvSpPr>
        <p:spPr>
          <a:xfrm>
            <a:off x="326065" y="4486582"/>
            <a:ext cx="6457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portfolio monitoring , Risk distribution across clients , Live market price updates, Automated risk alerts and AI-generated insights</a:t>
            </a:r>
          </a:p>
        </p:txBody>
      </p:sp>
    </p:spTree>
    <p:extLst>
      <p:ext uri="{BB962C8B-B14F-4D97-AF65-F5344CB8AC3E}">
        <p14:creationId xmlns:p14="http://schemas.microsoft.com/office/powerpoint/2010/main" val="2255155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86A5-B502-C1B0-F557-6D5824C20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D6F09-84B3-419F-F17E-7DD9BF6F7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7070" y="1406489"/>
            <a:ext cx="7856930" cy="2761474"/>
          </a:xfrm>
        </p:spPr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login for Admin and Clients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role-based access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on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AWS cloud for scalability and production use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stock market APIs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data instead of simulation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voice assistant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interactive portfolio queries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system with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risk analytics and predictive insights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497600"/>
      </p:ext>
    </p:extLst>
  </p:cSld>
  <p:clrMapOvr>
    <a:masterClrMapping/>
  </p:clrMapOvr>
</p:sld>
</file>

<file path=ppt/theme/theme1.xml><?xml version="1.0" encoding="utf-8"?>
<a:theme xmlns:a="http://schemas.openxmlformats.org/drawingml/2006/main" name="Formal Meeting by Slidesgo">
  <a:themeElements>
    <a:clrScheme name="Simple Light">
      <a:dk1>
        <a:srgbClr val="000000"/>
      </a:dk1>
      <a:lt1>
        <a:srgbClr val="FFFFFF"/>
      </a:lt1>
      <a:dk2>
        <a:srgbClr val="001B5C"/>
      </a:dk2>
      <a:lt2>
        <a:srgbClr val="BF9000"/>
      </a:lt2>
      <a:accent1>
        <a:srgbClr val="D9D9D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1114</Words>
  <Application>Microsoft Office PowerPoint</Application>
  <PresentationFormat>On-screen Show (16:9)</PresentationFormat>
  <Paragraphs>179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Playfair Display</vt:lpstr>
      <vt:lpstr>Wingdings</vt:lpstr>
      <vt:lpstr>Arial</vt:lpstr>
      <vt:lpstr>Nunito Light</vt:lpstr>
      <vt:lpstr>Times New Roman</vt:lpstr>
      <vt:lpstr>Bebas Neue</vt:lpstr>
      <vt:lpstr>Calibri</vt:lpstr>
      <vt:lpstr>Atkinson Hyperlegible</vt:lpstr>
      <vt:lpstr>Formal Meeting by Slidesgo</vt:lpstr>
      <vt:lpstr>AI-Driven Real Time Portfolio Risk Alert System</vt:lpstr>
      <vt:lpstr>ABSTRACT</vt:lpstr>
      <vt:lpstr>PROBLEM STATEMENT</vt:lpstr>
      <vt:lpstr>SYSTEM ARCHITECHTURE</vt:lpstr>
      <vt:lpstr>PowerPoint Presentation</vt:lpstr>
      <vt:lpstr>MICROSERVICES(API)</vt:lpstr>
      <vt:lpstr>PowerPoint Presentation</vt:lpstr>
      <vt:lpstr>RISK DETECTION LOGIC</vt:lpstr>
      <vt:lpstr>PowerPoint Presentation</vt:lpstr>
      <vt:lpstr>AWS SERVICES</vt:lpstr>
      <vt:lpstr>PowerPoint Presentation</vt:lpstr>
      <vt:lpstr>FUTURE ENHANCEMENTS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Sai Siddhartha Bobbili</cp:lastModifiedBy>
  <cp:revision>2</cp:revision>
  <dcterms:modified xsi:type="dcterms:W3CDTF">2026-05-26T17:00:59Z</dcterms:modified>
</cp:coreProperties>
</file>